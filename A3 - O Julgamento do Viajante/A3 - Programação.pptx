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63" r:id="rId5"/>
    <p:sldId id="262" r:id="rId6"/>
    <p:sldId id="264" r:id="rId7"/>
    <p:sldId id="265" r:id="rId8"/>
    <p:sldId id="266" r:id="rId9"/>
    <p:sldId id="267" r:id="rId10"/>
    <p:sldId id="269" r:id="rId11"/>
    <p:sldId id="268" r:id="rId12"/>
    <p:sldId id="271" r:id="rId13"/>
    <p:sldId id="270" r:id="rId14"/>
    <p:sldId id="272" r:id="rId15"/>
    <p:sldId id="27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90" d="100"/>
          <a:sy n="90" d="100"/>
        </p:scale>
        <p:origin x="57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9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8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4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9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2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25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16" r:id="rId6"/>
    <p:sldLayoutId id="2147483821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 descr="Caminho coberto por neve&#10;&#10;O conteúdo gerado por IA pode estar incorreto.">
            <a:extLst>
              <a:ext uri="{FF2B5EF4-FFF2-40B4-BE49-F238E27FC236}">
                <a16:creationId xmlns:a16="http://schemas.microsoft.com/office/drawing/2014/main" id="{6A4D9779-85BC-51C8-16E4-EF62DDB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0" y="0"/>
            <a:ext cx="13048526" cy="733978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781" y="-257784"/>
            <a:ext cx="6857999" cy="7373570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88A76F93-1C6D-15B3-80A5-70CF3D24D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7108" y="4071859"/>
            <a:ext cx="5024722" cy="1211818"/>
          </a:xfrm>
        </p:spPr>
        <p:txBody>
          <a:bodyPr anchor="b">
            <a:normAutofit fontScale="25000" lnSpcReduction="20000"/>
          </a:bodyPr>
          <a:lstStyle/>
          <a:p>
            <a:pPr algn="ctr">
              <a:lnSpc>
                <a:spcPct val="110000"/>
              </a:lnSpc>
            </a:pPr>
            <a:r>
              <a:rPr lang="pt-BR" sz="14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O JULGAMENTO DO VIAJANTE</a:t>
            </a:r>
          </a:p>
          <a:p>
            <a:pPr>
              <a:lnSpc>
                <a:spcPct val="110000"/>
              </a:lnSpc>
            </a:pPr>
            <a:endParaRPr lang="pt-BR" sz="9600" dirty="0">
              <a:solidFill>
                <a:srgbClr val="FFFFFF"/>
              </a:solidFill>
              <a:latin typeface="Kristen ITC" panose="03050502040202030202" pitchFamily="66" charset="0"/>
            </a:endParaRP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Por: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Anna Livia Miranda Magalhães 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Gustavo Borges de Almeida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John Bryan da Silva Bento 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Maria Fernanda de Almeida Silva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Milene Vitória de Oliveira Freitas</a:t>
            </a:r>
          </a:p>
          <a:p>
            <a:pPr algn="ctr">
              <a:lnSpc>
                <a:spcPct val="110000"/>
              </a:lnSpc>
            </a:pPr>
            <a:r>
              <a:rPr lang="pt-BR" sz="56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Paulo Vitor Figueredo dos Santos</a:t>
            </a:r>
          </a:p>
          <a:p>
            <a:pPr>
              <a:lnSpc>
                <a:spcPct val="110000"/>
              </a:lnSpc>
            </a:pPr>
            <a:endParaRPr lang="pt-BR" sz="500" dirty="0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5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7226E7-7D44-D727-26F7-080E1640D0E1}"/>
              </a:ext>
            </a:extLst>
          </p:cNvPr>
          <p:cNvSpPr txBox="1"/>
          <p:nvPr/>
        </p:nvSpPr>
        <p:spPr>
          <a:xfrm>
            <a:off x="1163472" y="5283677"/>
            <a:ext cx="11671995" cy="106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40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Saúde. Honra. Dinheiro. O que você sacrificaria primeiro?</a:t>
            </a:r>
          </a:p>
          <a:p>
            <a:pPr>
              <a:lnSpc>
                <a:spcPct val="110000"/>
              </a:lnSpc>
            </a:pPr>
            <a:endParaRPr lang="pt-BR" sz="1800" dirty="0">
              <a:solidFill>
                <a:srgbClr val="FFFFFF"/>
              </a:solidFill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51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B7B51F0-B802-42C9-AF45-A860F9551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58B9E-C015-412F-9B81-E40D361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fogo, hidrante, embaçado, trem">
            <a:extLst>
              <a:ext uri="{FF2B5EF4-FFF2-40B4-BE49-F238E27FC236}">
                <a16:creationId xmlns:a16="http://schemas.microsoft.com/office/drawing/2014/main" id="{6497A139-2CB4-CAAE-9BC1-E12705149E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3404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D046F2A-7774-275B-DD15-3A4CBCFBCD91}"/>
              </a:ext>
            </a:extLst>
          </p:cNvPr>
          <p:cNvSpPr txBox="1"/>
          <p:nvPr/>
        </p:nvSpPr>
        <p:spPr>
          <a:xfrm>
            <a:off x="-1470659" y="768931"/>
            <a:ext cx="5547360" cy="2476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Sumário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4332FE-82B3-4EC0-8568-D87631440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7788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13AC446-A1F5-191F-F957-B4BF72C67E12}"/>
              </a:ext>
            </a:extLst>
          </p:cNvPr>
          <p:cNvSpPr txBox="1"/>
          <p:nvPr/>
        </p:nvSpPr>
        <p:spPr>
          <a:xfrm>
            <a:off x="8115300" y="952499"/>
            <a:ext cx="3433232" cy="5079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Contextualização do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projeto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Sinopse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do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jogo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Referencias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O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que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usamos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?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Banco de dados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Finais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alternativos</a:t>
            </a:r>
          </a:p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Estrutura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Interface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gráfica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Desafios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Teste do Código</a:t>
            </a:r>
          </a:p>
          <a:p>
            <a:pPr marL="285750" indent="-285750"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Trilha Sonora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Reflexão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 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Agradecimento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5E59FA-8FDE-43F6-BEAF-F8D715BA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7633"/>
            <a:ext cx="10905066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EEB84B-81E2-3565-76BD-8CFC64ECB5BD}"/>
              </a:ext>
            </a:extLst>
          </p:cNvPr>
          <p:cNvSpPr txBox="1"/>
          <p:nvPr/>
        </p:nvSpPr>
        <p:spPr>
          <a:xfrm>
            <a:off x="381049" y="1745706"/>
            <a:ext cx="35830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Antes do julgamento, é preciso </a:t>
            </a:r>
          </a:p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conhecer a estrada</a:t>
            </a:r>
            <a:r>
              <a:rPr lang="pt-BR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627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011A86-DB53-41C7-94D9-9B8BF9DF1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58B9E-C015-412F-9B81-E40D361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Desenho de personagem">
            <a:extLst>
              <a:ext uri="{FF2B5EF4-FFF2-40B4-BE49-F238E27FC236}">
                <a16:creationId xmlns:a16="http://schemas.microsoft.com/office/drawing/2014/main" id="{78089333-3734-968C-5FB1-B20E6C4D72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575"/>
            <a:ext cx="12192000" cy="68580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4332FE-82B3-4EC0-8568-D87631440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7700" y="677785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5E59FA-8FDE-43F6-BEAF-F8D715BA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7633"/>
            <a:ext cx="10905066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647F76-E22C-AAD0-6583-F23DA03B180B}"/>
              </a:ext>
            </a:extLst>
          </p:cNvPr>
          <p:cNvSpPr txBox="1"/>
          <p:nvPr/>
        </p:nvSpPr>
        <p:spPr>
          <a:xfrm>
            <a:off x="548640" y="2164132"/>
            <a:ext cx="61750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O Julgamento do Viajante é um RPG de estratégia e narrativa desenvolvido integralmente em Java. O projeto funde a complexidade lógica da sobrevivência medieval com uma arquitetura de software moderna: utiliza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JavaFX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para a interface gráfica imersiva, padrão DAO para gerenciamento de regras 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SQLite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para persistência de dados.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ED520E-ED5B-8822-C779-4F9224445016}"/>
              </a:ext>
            </a:extLst>
          </p:cNvPr>
          <p:cNvSpPr txBox="1"/>
          <p:nvPr/>
        </p:nvSpPr>
        <p:spPr>
          <a:xfrm>
            <a:off x="5468266" y="4920823"/>
            <a:ext cx="617509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É uma aplicação que transforma dilemas éticos em variáveis de sistema, onde cada clique define o destino do usuário.</a:t>
            </a:r>
            <a:endParaRPr lang="pt-BR" sz="22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48BF38-0320-F160-BC92-FAE772E1E6B6}"/>
              </a:ext>
            </a:extLst>
          </p:cNvPr>
          <p:cNvSpPr/>
          <p:nvPr/>
        </p:nvSpPr>
        <p:spPr>
          <a:xfrm>
            <a:off x="508332" y="809731"/>
            <a:ext cx="5990851" cy="120142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3920F4-E652-26DC-2CE7-AA4BE83823BB}"/>
              </a:ext>
            </a:extLst>
          </p:cNvPr>
          <p:cNvSpPr txBox="1"/>
          <p:nvPr/>
        </p:nvSpPr>
        <p:spPr>
          <a:xfrm>
            <a:off x="548640" y="829181"/>
            <a:ext cx="7183249" cy="1828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Contextualização do Projeto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FA8163-6F03-E7E3-9D08-6C1EC3B1C5FC}"/>
              </a:ext>
            </a:extLst>
          </p:cNvPr>
          <p:cNvSpPr txBox="1"/>
          <p:nvPr/>
        </p:nvSpPr>
        <p:spPr>
          <a:xfrm>
            <a:off x="484979" y="1487932"/>
            <a:ext cx="6175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Demos forma ao caos e memória aos seus pecados.</a:t>
            </a:r>
          </a:p>
        </p:txBody>
      </p:sp>
    </p:spTree>
    <p:extLst>
      <p:ext uri="{BB962C8B-B14F-4D97-AF65-F5344CB8AC3E}">
        <p14:creationId xmlns:p14="http://schemas.microsoft.com/office/powerpoint/2010/main" val="414205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fogo, hidrante, embaçado, trem">
            <a:extLst>
              <a:ext uri="{FF2B5EF4-FFF2-40B4-BE49-F238E27FC236}">
                <a16:creationId xmlns:a16="http://schemas.microsoft.com/office/drawing/2014/main" id="{2BE1146A-FBF4-1232-BF06-FC0FCE7072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AD60DA-E684-B348-4CC1-E703B855DFF9}"/>
              </a:ext>
            </a:extLst>
          </p:cNvPr>
          <p:cNvSpPr txBox="1"/>
          <p:nvPr/>
        </p:nvSpPr>
        <p:spPr>
          <a:xfrm>
            <a:off x="405114" y="2489035"/>
            <a:ext cx="58195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Um RPG textual de sobrevivência situado na devastação de 1347. Você assume o papel de um viajante anônimo lutando contra a fome, a doença e a própria consciência.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A82C70-615A-6E7A-E767-00A90A02BD98}"/>
              </a:ext>
            </a:extLst>
          </p:cNvPr>
          <p:cNvSpPr txBox="1"/>
          <p:nvPr/>
        </p:nvSpPr>
        <p:spPr>
          <a:xfrm>
            <a:off x="5373439" y="4116582"/>
            <a:ext cx="61750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Cada decisão altera o equilíbrio entre </a:t>
            </a:r>
            <a:r>
              <a:rPr lang="pt-BR" sz="2200" b="1" dirty="0">
                <a:solidFill>
                  <a:schemeClr val="accent1"/>
                </a:solidFill>
                <a:latin typeface="Kristen ITC" panose="03050502040202030202" pitchFamily="66" charset="0"/>
              </a:rPr>
              <a:t>Saúde, Honra e Dinheiro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. O objetivo não é apenas sobreviver fisicamente à Peste Negra, mas descobrir o que resta da sua humanidade ao final da estrada.</a:t>
            </a:r>
            <a:br>
              <a:rPr lang="pt-BR" sz="18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</a:b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8D5870C-E7FC-B2BC-8209-577E4C4A5395}"/>
              </a:ext>
            </a:extLst>
          </p:cNvPr>
          <p:cNvSpPr/>
          <p:nvPr/>
        </p:nvSpPr>
        <p:spPr>
          <a:xfrm>
            <a:off x="405114" y="809730"/>
            <a:ext cx="4097438" cy="1598693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8F092F-6785-0974-E3E9-AF8B5A066BC2}"/>
              </a:ext>
            </a:extLst>
          </p:cNvPr>
          <p:cNvSpPr txBox="1"/>
          <p:nvPr/>
        </p:nvSpPr>
        <p:spPr>
          <a:xfrm>
            <a:off x="488606" y="729118"/>
            <a:ext cx="1813317" cy="861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Sinopse: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200A84-BF6E-585C-E045-331B2DDDB372}"/>
              </a:ext>
            </a:extLst>
          </p:cNvPr>
          <p:cNvSpPr txBox="1"/>
          <p:nvPr/>
        </p:nvSpPr>
        <p:spPr>
          <a:xfrm>
            <a:off x="488606" y="1454316"/>
            <a:ext cx="4210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Em 1347, a sobrevivência é o único credo que resta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8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Caminho coberto por neve">
            <a:extLst>
              <a:ext uri="{FF2B5EF4-FFF2-40B4-BE49-F238E27FC236}">
                <a16:creationId xmlns:a16="http://schemas.microsoft.com/office/drawing/2014/main" id="{5BADDE04-6CB3-66D0-4454-79DA93042D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8ED1C2-62B1-74B5-7A5B-843F8DDDF69E}"/>
              </a:ext>
            </a:extLst>
          </p:cNvPr>
          <p:cNvSpPr txBox="1"/>
          <p:nvPr/>
        </p:nvSpPr>
        <p:spPr>
          <a:xfrm>
            <a:off x="508332" y="2349039"/>
            <a:ext cx="609407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Iniciado sob a influência mecânica de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Reigns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Lapse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, o projeto evoluiu para uma atmosfera melancólica inspirada em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Dark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Souls 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Skyrim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.</a:t>
            </a:r>
            <a:br>
              <a:rPr lang="pt-BR" sz="18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</a:b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8D91E22-E5F9-382B-0F77-4F2BE77C8154}"/>
              </a:ext>
            </a:extLst>
          </p:cNvPr>
          <p:cNvSpPr txBox="1"/>
          <p:nvPr/>
        </p:nvSpPr>
        <p:spPr>
          <a:xfrm>
            <a:off x="6120006" y="4557908"/>
            <a:ext cx="5428527" cy="162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O polimento final buscou integrar o peso das escolhas de Life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is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Strange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com a gestão de escassez de The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Long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Dark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, transformando estruturas criativas em pilares de gameplay.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13C85B-B8CD-030E-7923-1745BBA5F262}"/>
              </a:ext>
            </a:extLst>
          </p:cNvPr>
          <p:cNvSpPr/>
          <p:nvPr/>
        </p:nvSpPr>
        <p:spPr>
          <a:xfrm>
            <a:off x="508332" y="809731"/>
            <a:ext cx="5990851" cy="144420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AD2B7B4-24A2-3940-D14F-BE765A19630D}"/>
              </a:ext>
            </a:extLst>
          </p:cNvPr>
          <p:cNvSpPr txBox="1"/>
          <p:nvPr/>
        </p:nvSpPr>
        <p:spPr>
          <a:xfrm>
            <a:off x="-1296059" y="824969"/>
            <a:ext cx="6094070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Referências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D1CA34D-F606-0BB0-99FA-9149F26A3A2E}"/>
              </a:ext>
            </a:extLst>
          </p:cNvPr>
          <p:cNvSpPr txBox="1"/>
          <p:nvPr/>
        </p:nvSpPr>
        <p:spPr>
          <a:xfrm>
            <a:off x="508333" y="1635603"/>
            <a:ext cx="6743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Sobre os alicerces de velhos mundos, erguemos o nosso</a:t>
            </a:r>
            <a:endParaRPr lang="en-US" sz="28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hiller" panose="020F05020202040302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3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Caminho coberto por neve&#10;&#10;O conteúdo gerado por IA pode estar incorreto.">
            <a:extLst>
              <a:ext uri="{FF2B5EF4-FFF2-40B4-BE49-F238E27FC236}">
                <a16:creationId xmlns:a16="http://schemas.microsoft.com/office/drawing/2014/main" id="{E9B64BC4-49F8-07A0-1D98-8E5426A136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0F97F56-35E6-3BE2-7366-1AADE85B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75" y="2218433"/>
            <a:ext cx="450757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2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Controle de Fluxo: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While</a:t>
            </a:r>
            <a:r>
              <a:rPr lang="pt-BR" alt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e Do-</a:t>
            </a:r>
            <a:r>
              <a:rPr lang="pt-BR" alt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While</a:t>
            </a:r>
            <a:r>
              <a:rPr lang="pt-BR" alt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Kristen ITC" panose="03050502040202030202" pitchFamily="66" charset="0"/>
              </a:rPr>
              <a:t>Switch Case e Default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If</a:t>
            </a:r>
            <a:r>
              <a:rPr lang="pt-BR" alt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e Else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97567FF-DF7B-9E87-6B80-3B07734F6DD5}"/>
              </a:ext>
            </a:extLst>
          </p:cNvPr>
          <p:cNvSpPr txBox="1"/>
          <p:nvPr/>
        </p:nvSpPr>
        <p:spPr>
          <a:xfrm>
            <a:off x="394575" y="4144822"/>
            <a:ext cx="617509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Aleatoriedade e Entrada: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Random 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Math.Random</a:t>
            </a:r>
            <a:endParaRPr lang="pt-BR" sz="22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Scanner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162808AA-E3A4-DF07-AF7D-A4CA8BCFD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956" y="3632034"/>
            <a:ext cx="450757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Tratamento e UX: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Try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-Catch e UTF-8</a:t>
            </a: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PrintStream</a:t>
            </a:r>
            <a:endParaRPr lang="pt-BR" sz="22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Recursividade: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main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(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null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7076D78-3379-BDCE-EB99-A5CF3C8CE20C}"/>
              </a:ext>
            </a:extLst>
          </p:cNvPr>
          <p:cNvSpPr txBox="1"/>
          <p:nvPr/>
        </p:nvSpPr>
        <p:spPr>
          <a:xfrm>
            <a:off x="2724855" y="5032417"/>
            <a:ext cx="61750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Arquitetura Avançada:</a:t>
            </a:r>
          </a:p>
          <a:p>
            <a:pPr algn="ctr"/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RankingDAO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SQLite</a:t>
            </a:r>
            <a:endParaRPr lang="pt-BR" sz="2200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993642-2DFB-A75A-85CD-4CC9EC88C87B}"/>
              </a:ext>
            </a:extLst>
          </p:cNvPr>
          <p:cNvSpPr txBox="1"/>
          <p:nvPr/>
        </p:nvSpPr>
        <p:spPr>
          <a:xfrm>
            <a:off x="5136159" y="2192144"/>
            <a:ext cx="641237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Persistência e Conectividade: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JDBC  e </a:t>
            </a: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PreparedStatement</a:t>
            </a:r>
            <a:endParaRPr lang="pt-BR" sz="2200" b="1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Try-With-Resources</a:t>
            </a:r>
            <a:endParaRPr lang="pt-BR" sz="2200" b="1" dirty="0">
              <a:solidFill>
                <a:schemeClr val="accent4">
                  <a:lumMod val="40000"/>
                  <a:lumOff val="60000"/>
                </a:schemeClr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3C395F-70E4-0E2A-91F5-A1419A7D6A8A}"/>
              </a:ext>
            </a:extLst>
          </p:cNvPr>
          <p:cNvSpPr/>
          <p:nvPr/>
        </p:nvSpPr>
        <p:spPr>
          <a:xfrm>
            <a:off x="394575" y="809731"/>
            <a:ext cx="4507578" cy="120142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D5810F-E68F-3317-2044-7B5920F7ABC8}"/>
              </a:ext>
            </a:extLst>
          </p:cNvPr>
          <p:cNvSpPr txBox="1"/>
          <p:nvPr/>
        </p:nvSpPr>
        <p:spPr>
          <a:xfrm>
            <a:off x="394575" y="705310"/>
            <a:ext cx="2919389" cy="861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O que usamos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D7033F2-CBF0-885F-1874-38EF34942602}"/>
              </a:ext>
            </a:extLst>
          </p:cNvPr>
          <p:cNvSpPr txBox="1"/>
          <p:nvPr/>
        </p:nvSpPr>
        <p:spPr>
          <a:xfrm>
            <a:off x="394575" y="1503030"/>
            <a:ext cx="4660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Leis invisíveis regendo uma terra sem lei.</a:t>
            </a:r>
          </a:p>
        </p:txBody>
      </p:sp>
    </p:spTree>
    <p:extLst>
      <p:ext uri="{BB962C8B-B14F-4D97-AF65-F5344CB8AC3E}">
        <p14:creationId xmlns:p14="http://schemas.microsoft.com/office/powerpoint/2010/main" val="39195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esenho de personagem">
            <a:extLst>
              <a:ext uri="{FF2B5EF4-FFF2-40B4-BE49-F238E27FC236}">
                <a16:creationId xmlns:a16="http://schemas.microsoft.com/office/drawing/2014/main" id="{E26F5AD7-1609-75F4-7FC0-8A12B6A7D0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A3CDB9-34B8-E93F-78F0-F3269EAE124A}"/>
              </a:ext>
            </a:extLst>
          </p:cNvPr>
          <p:cNvSpPr txBox="1"/>
          <p:nvPr/>
        </p:nvSpPr>
        <p:spPr>
          <a:xfrm>
            <a:off x="504609" y="2331090"/>
            <a:ext cx="60940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Implementamos a persistência de dados utilizando </a:t>
            </a: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SQLite</a:t>
            </a: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integrado via JDBC, o que garante a portabilidade do jogo sem necessidade de servidores externos.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19575A-6149-1640-0780-40648816BC0D}"/>
              </a:ext>
            </a:extLst>
          </p:cNvPr>
          <p:cNvSpPr txBox="1"/>
          <p:nvPr/>
        </p:nvSpPr>
        <p:spPr>
          <a:xfrm>
            <a:off x="5454463" y="3474447"/>
            <a:ext cx="60940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 arquitetura adota o padrão de projeto DAO (Data Access </a:t>
            </a: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Object</a:t>
            </a: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) para isolar as regras de acesso a dados, utilizando </a:t>
            </a: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PreparedStatement</a:t>
            </a: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em todas as consultas. Isso assegura blindagem contra SQL </a:t>
            </a:r>
            <a:r>
              <a:rPr lang="pt-BR" sz="22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Injection</a:t>
            </a:r>
            <a:r>
              <a:rPr lang="pt-BR" sz="2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, otimização de performance e o gerenciamento seguro do histórico global de vitórias e derrotas.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8FFA838-253C-FE4B-20E0-D6AD530F8F16}"/>
              </a:ext>
            </a:extLst>
          </p:cNvPr>
          <p:cNvSpPr/>
          <p:nvPr/>
        </p:nvSpPr>
        <p:spPr>
          <a:xfrm>
            <a:off x="508332" y="809730"/>
            <a:ext cx="4792873" cy="1428253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F09827-A8EA-0C2E-D29E-95D47D2B30D2}"/>
              </a:ext>
            </a:extLst>
          </p:cNvPr>
          <p:cNvSpPr txBox="1"/>
          <p:nvPr/>
        </p:nvSpPr>
        <p:spPr>
          <a:xfrm>
            <a:off x="545121" y="766402"/>
            <a:ext cx="3348994" cy="861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Banco de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673894-A273-3004-EE69-6B70FFA9A6C6}"/>
              </a:ext>
            </a:extLst>
          </p:cNvPr>
          <p:cNvSpPr txBox="1"/>
          <p:nvPr/>
        </p:nvSpPr>
        <p:spPr>
          <a:xfrm>
            <a:off x="464097" y="1376983"/>
            <a:ext cx="61750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Onde os ecos de antigas jornadas descansam eternamente.</a:t>
            </a:r>
          </a:p>
        </p:txBody>
      </p:sp>
    </p:spTree>
    <p:extLst>
      <p:ext uri="{BB962C8B-B14F-4D97-AF65-F5344CB8AC3E}">
        <p14:creationId xmlns:p14="http://schemas.microsoft.com/office/powerpoint/2010/main" val="172871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fogo, hidrante, embaçado, trem&#10;&#10;O conteúdo gerado por IA pode estar incorreto.">
            <a:extLst>
              <a:ext uri="{FF2B5EF4-FFF2-40B4-BE49-F238E27FC236}">
                <a16:creationId xmlns:a16="http://schemas.microsoft.com/office/drawing/2014/main" id="{FFB2BC20-A425-6CD5-35A3-EE5B455FD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18323C-6A16-9525-DDAB-F9EE38FDE0F6}"/>
              </a:ext>
            </a:extLst>
          </p:cNvPr>
          <p:cNvSpPr txBox="1"/>
          <p:nvPr/>
        </p:nvSpPr>
        <p:spPr>
          <a:xfrm>
            <a:off x="643467" y="2705725"/>
            <a:ext cx="6093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Implementamos três desfechos distintos, acionados pela maximização de um atributo específico (Saúde, Honra ou Dinheiro).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711EF1-E9FE-9E35-06EB-E1E13450AC60}"/>
              </a:ext>
            </a:extLst>
          </p:cNvPr>
          <p:cNvSpPr txBox="1"/>
          <p:nvPr/>
        </p:nvSpPr>
        <p:spPr>
          <a:xfrm>
            <a:off x="5373439" y="4394177"/>
            <a:ext cx="617509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Essa estrutura foi desenhada para recompensar a curiosidade e incentivar a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rejogabilidade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(replay), permitindo que o jogador explore as diferentes facetas morais da narrativa.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5B490F1-6CB3-F846-495E-EA34AD59ABAE}"/>
              </a:ext>
            </a:extLst>
          </p:cNvPr>
          <p:cNvSpPr/>
          <p:nvPr/>
        </p:nvSpPr>
        <p:spPr>
          <a:xfrm>
            <a:off x="508333" y="809730"/>
            <a:ext cx="4210716" cy="1726717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D825A3-7AD1-610D-2227-AE51998430AB}"/>
              </a:ext>
            </a:extLst>
          </p:cNvPr>
          <p:cNvSpPr txBox="1"/>
          <p:nvPr/>
        </p:nvSpPr>
        <p:spPr>
          <a:xfrm>
            <a:off x="643467" y="791454"/>
            <a:ext cx="3882794" cy="861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Finais Alternativos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235C74-5FA2-0FA6-F7FF-671891DA2B08}"/>
              </a:ext>
            </a:extLst>
          </p:cNvPr>
          <p:cNvSpPr txBox="1"/>
          <p:nvPr/>
        </p:nvSpPr>
        <p:spPr>
          <a:xfrm>
            <a:off x="643467" y="1582341"/>
            <a:ext cx="4210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Diga-me o que você salvou, e eu lhe direi quem você se tornou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523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Caminho coberto por neve&#10;&#10;O conteúdo gerado por IA pode estar incorreto.">
            <a:extLst>
              <a:ext uri="{FF2B5EF4-FFF2-40B4-BE49-F238E27FC236}">
                <a16:creationId xmlns:a16="http://schemas.microsoft.com/office/drawing/2014/main" id="{E62A34BA-A23E-6FD0-0EAA-C56A6A0720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D0927F-D805-0677-8AB5-02768B585B6B}"/>
              </a:ext>
            </a:extLst>
          </p:cNvPr>
          <p:cNvSpPr txBox="1"/>
          <p:nvPr/>
        </p:nvSpPr>
        <p:spPr>
          <a:xfrm>
            <a:off x="526014" y="2197888"/>
            <a:ext cx="68174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 arquitetura do projeto evoluiu para uma estrutura modular e orientada a objetos, separando responsabilidades de forma clara. A classe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Main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atua como controladora do Game Loop e da narrativa, enquanto a classe Atributos encapsula o estado e as regras de negócio do jogador.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0B9430-6077-8175-CA27-DCCD389C400E}"/>
              </a:ext>
            </a:extLst>
          </p:cNvPr>
          <p:cNvSpPr txBox="1"/>
          <p:nvPr/>
        </p:nvSpPr>
        <p:spPr>
          <a:xfrm>
            <a:off x="4731045" y="4522015"/>
            <a:ext cx="68174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Essa organização, aliada ao uso de recursividade para o reinício imediato e tratamento de exceções para codificação UTF-8, garante um código limpo, seguro e escalável.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1C65E2-4EA5-F17D-88F0-900EB77C92F4}"/>
              </a:ext>
            </a:extLst>
          </p:cNvPr>
          <p:cNvSpPr/>
          <p:nvPr/>
        </p:nvSpPr>
        <p:spPr>
          <a:xfrm>
            <a:off x="508332" y="809731"/>
            <a:ext cx="6217321" cy="120142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1A0650-4A69-4445-8F45-02E3C0325019}"/>
              </a:ext>
            </a:extLst>
          </p:cNvPr>
          <p:cNvSpPr txBox="1"/>
          <p:nvPr/>
        </p:nvSpPr>
        <p:spPr>
          <a:xfrm>
            <a:off x="-1447676" y="811066"/>
            <a:ext cx="6093912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Estrutura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949AA6-9BAE-A9D6-BBA0-59713D2AF21A}"/>
              </a:ext>
            </a:extLst>
          </p:cNvPr>
          <p:cNvSpPr txBox="1"/>
          <p:nvPr/>
        </p:nvSpPr>
        <p:spPr>
          <a:xfrm>
            <a:off x="643467" y="1542807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O caos reina na história, mas a ordem governa o sistema.</a:t>
            </a:r>
          </a:p>
        </p:txBody>
      </p:sp>
    </p:spTree>
    <p:extLst>
      <p:ext uri="{BB962C8B-B14F-4D97-AF65-F5344CB8AC3E}">
        <p14:creationId xmlns:p14="http://schemas.microsoft.com/office/powerpoint/2010/main" val="157775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fogo, hidrante, embaçado, trem&#10;&#10;O conteúdo gerado por IA pode estar incorreto.">
            <a:extLst>
              <a:ext uri="{FF2B5EF4-FFF2-40B4-BE49-F238E27FC236}">
                <a16:creationId xmlns:a16="http://schemas.microsoft.com/office/drawing/2014/main" id="{3CF1C89F-35BB-CF28-B8B4-2BF306EB07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6F17B341-69EB-1CEE-AE5D-31F00A75A70C}"/>
              </a:ext>
            </a:extLst>
          </p:cNvPr>
          <p:cNvSpPr txBox="1"/>
          <p:nvPr/>
        </p:nvSpPr>
        <p:spPr>
          <a:xfrm>
            <a:off x="-737966" y="926926"/>
            <a:ext cx="6093912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Interface gráfica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8019F4-906A-6A08-6045-F3D60B89BD3E}"/>
              </a:ext>
            </a:extLst>
          </p:cNvPr>
          <p:cNvSpPr txBox="1"/>
          <p:nvPr/>
        </p:nvSpPr>
        <p:spPr>
          <a:xfrm>
            <a:off x="497711" y="1774527"/>
            <a:ext cx="6504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Dando forma e cor aos seus pesadelos.</a:t>
            </a:r>
          </a:p>
        </p:txBody>
      </p:sp>
    </p:spTree>
    <p:extLst>
      <p:ext uri="{BB962C8B-B14F-4D97-AF65-F5344CB8AC3E}">
        <p14:creationId xmlns:p14="http://schemas.microsoft.com/office/powerpoint/2010/main" val="1435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esenho de personagem&#10;&#10;O conteúdo gerado por IA pode estar incorreto.">
            <a:extLst>
              <a:ext uri="{FF2B5EF4-FFF2-40B4-BE49-F238E27FC236}">
                <a16:creationId xmlns:a16="http://schemas.microsoft.com/office/drawing/2014/main" id="{5A1E83B6-F255-A6C6-1FD0-D90B4A1B94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CD6BD2-A984-D8BB-A841-8D1509278C42}"/>
              </a:ext>
            </a:extLst>
          </p:cNvPr>
          <p:cNvSpPr txBox="1"/>
          <p:nvPr/>
        </p:nvSpPr>
        <p:spPr>
          <a:xfrm>
            <a:off x="369972" y="2681964"/>
            <a:ext cx="51284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O maior obstáculo foi alinhar os diferentes estilos de codificação e visões criativas da equipe em um prazo curto.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92986D4-3F2C-EE69-77CA-2ABBC9925677}"/>
              </a:ext>
            </a:extLst>
          </p:cNvPr>
          <p:cNvSpPr txBox="1"/>
          <p:nvPr/>
        </p:nvSpPr>
        <p:spPr>
          <a:xfrm>
            <a:off x="5871411" y="4264167"/>
            <a:ext cx="567712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Foi necessário filtrar o excesso de ideias e padronizar a estrutura técnica, transformando um "Frankenstein" de conceitos individuais em um software coeso e funcional.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73218E-57D0-FD42-D10C-6ABD66988541}"/>
              </a:ext>
            </a:extLst>
          </p:cNvPr>
          <p:cNvSpPr/>
          <p:nvPr/>
        </p:nvSpPr>
        <p:spPr>
          <a:xfrm>
            <a:off x="508332" y="809730"/>
            <a:ext cx="5990851" cy="1611809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9A3384-A93C-6DD3-C728-4AA21D3EC42B}"/>
              </a:ext>
            </a:extLst>
          </p:cNvPr>
          <p:cNvSpPr txBox="1"/>
          <p:nvPr/>
        </p:nvSpPr>
        <p:spPr>
          <a:xfrm>
            <a:off x="-1671230" y="809329"/>
            <a:ext cx="6181594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Desafios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975A57-D3CC-B465-88F1-710F1A53037B}"/>
              </a:ext>
            </a:extLst>
          </p:cNvPr>
          <p:cNvSpPr txBox="1"/>
          <p:nvPr/>
        </p:nvSpPr>
        <p:spPr>
          <a:xfrm>
            <a:off x="502320" y="1525546"/>
            <a:ext cx="6972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Se a sorte vier nos procurar, diga que já aprendemos a sobreviver sem ela.</a:t>
            </a:r>
          </a:p>
        </p:txBody>
      </p:sp>
    </p:spTree>
    <p:extLst>
      <p:ext uri="{BB962C8B-B14F-4D97-AF65-F5344CB8AC3E}">
        <p14:creationId xmlns:p14="http://schemas.microsoft.com/office/powerpoint/2010/main" val="1824620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esenho de personagem&#10;&#10;O conteúdo gerado por IA pode estar incorreto.">
            <a:extLst>
              <a:ext uri="{FF2B5EF4-FFF2-40B4-BE49-F238E27FC236}">
                <a16:creationId xmlns:a16="http://schemas.microsoft.com/office/drawing/2014/main" id="{A8827449-803E-6A5F-41A3-2721E24976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4525CC-D974-B328-ACFF-EC0DD8313959}"/>
              </a:ext>
            </a:extLst>
          </p:cNvPr>
          <p:cNvSpPr txBox="1"/>
          <p:nvPr/>
        </p:nvSpPr>
        <p:spPr>
          <a:xfrm>
            <a:off x="-804956" y="820904"/>
            <a:ext cx="6181594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Teste do código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1D3580-92BE-2684-0F34-9C41C24F84E8}"/>
              </a:ext>
            </a:extLst>
          </p:cNvPr>
          <p:cNvSpPr txBox="1"/>
          <p:nvPr/>
        </p:nvSpPr>
        <p:spPr>
          <a:xfrm>
            <a:off x="643467" y="1694451"/>
            <a:ext cx="6539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Onde a lógica fria decide quem sangra.</a:t>
            </a:r>
          </a:p>
        </p:txBody>
      </p:sp>
    </p:spTree>
    <p:extLst>
      <p:ext uri="{BB962C8B-B14F-4D97-AF65-F5344CB8AC3E}">
        <p14:creationId xmlns:p14="http://schemas.microsoft.com/office/powerpoint/2010/main" val="404700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Caminho coberto por neve&#10;&#10;O conteúdo gerado por IA pode estar incorreto.">
            <a:extLst>
              <a:ext uri="{FF2B5EF4-FFF2-40B4-BE49-F238E27FC236}">
                <a16:creationId xmlns:a16="http://schemas.microsoft.com/office/drawing/2014/main" id="{884BE7E6-F833-5D81-68D1-1B18BA83CC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8719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29C2F57A-3A47-403D-A3BC-0925A6889A64}"/>
              </a:ext>
            </a:extLst>
          </p:cNvPr>
          <p:cNvSpPr txBox="1"/>
          <p:nvPr/>
        </p:nvSpPr>
        <p:spPr>
          <a:xfrm>
            <a:off x="643467" y="2498161"/>
            <a:ext cx="66955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 faixa original "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Hell's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Symphony" funde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Dungeon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</a:t>
            </a:r>
            <a:r>
              <a:rPr lang="pt-BR" sz="22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Synth</a:t>
            </a:r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 com estética 8-bit e Synthwave.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15219DB-0AB6-CD3F-F37D-E5280ECB6D5A}"/>
              </a:ext>
            </a:extLst>
          </p:cNvPr>
          <p:cNvSpPr txBox="1"/>
          <p:nvPr/>
        </p:nvSpPr>
        <p:spPr>
          <a:xfrm>
            <a:off x="4852959" y="4414023"/>
            <a:ext cx="669557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Criada para momentos de tensão, a música busca traduzir a melancolia do cenário medieval, ampliando a imersão e a introspecção do jogador durante as tomadas de decisão.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F2FD205-EFC7-0104-0682-AA4F9E57C6A9}"/>
              </a:ext>
            </a:extLst>
          </p:cNvPr>
          <p:cNvSpPr/>
          <p:nvPr/>
        </p:nvSpPr>
        <p:spPr>
          <a:xfrm>
            <a:off x="508333" y="809731"/>
            <a:ext cx="4749468" cy="120142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3FF31E-1E35-19E5-169D-FF4C25F6D793}"/>
              </a:ext>
            </a:extLst>
          </p:cNvPr>
          <p:cNvSpPr txBox="1"/>
          <p:nvPr/>
        </p:nvSpPr>
        <p:spPr>
          <a:xfrm>
            <a:off x="-1123717" y="819229"/>
            <a:ext cx="6181594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Trilha Sonora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A61FD94-04B6-87FD-8017-8FB50D313426}"/>
              </a:ext>
            </a:extLst>
          </p:cNvPr>
          <p:cNvSpPr txBox="1"/>
          <p:nvPr/>
        </p:nvSpPr>
        <p:spPr>
          <a:xfrm>
            <a:off x="508333" y="1606136"/>
            <a:ext cx="6695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Nem toda sinfonia foi escrita para os céus.</a:t>
            </a:r>
          </a:p>
        </p:txBody>
      </p:sp>
    </p:spTree>
    <p:extLst>
      <p:ext uri="{BB962C8B-B14F-4D97-AF65-F5344CB8AC3E}">
        <p14:creationId xmlns:p14="http://schemas.microsoft.com/office/powerpoint/2010/main" val="53549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D94A9-B2E2-46A9-B26F-8AE3BFD8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fogo, hidrante, embaçado, trem&#10;&#10;O conteúdo gerado por IA pode estar incorreto.">
            <a:extLst>
              <a:ext uri="{FF2B5EF4-FFF2-40B4-BE49-F238E27FC236}">
                <a16:creationId xmlns:a16="http://schemas.microsoft.com/office/drawing/2014/main" id="{83CD7B5F-7796-427A-DF72-4987D90768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A0CB4C-845C-D596-4BD5-95EBF482B898}"/>
              </a:ext>
            </a:extLst>
          </p:cNvPr>
          <p:cNvSpPr txBox="1"/>
          <p:nvPr/>
        </p:nvSpPr>
        <p:spPr>
          <a:xfrm>
            <a:off x="643089" y="2714296"/>
            <a:ext cx="69001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O projeto serviu como um choque de realidade entre o idealizado e o executável. A maior lição foi o amadurecimento coletivo.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EC1E2F6-D3C8-3F2C-AC2D-D5D3AEF0C83A}"/>
              </a:ext>
            </a:extLst>
          </p:cNvPr>
          <p:cNvSpPr txBox="1"/>
          <p:nvPr/>
        </p:nvSpPr>
        <p:spPr>
          <a:xfrm>
            <a:off x="4648803" y="4616871"/>
            <a:ext cx="690011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Kristen ITC" panose="03050502040202030202" pitchFamily="66" charset="0"/>
              </a:rPr>
              <a:t>Aprendemos a ceder em preferências individuais e a adaptar o escopo diante de imprevistos para priorizar a entrega de um produto sólido feita pela equipe.</a:t>
            </a:r>
            <a:endParaRPr lang="pt-BR" sz="22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0A64C7-38B0-B36C-9B41-1659B8B3944C}"/>
              </a:ext>
            </a:extLst>
          </p:cNvPr>
          <p:cNvSpPr/>
          <p:nvPr/>
        </p:nvSpPr>
        <p:spPr>
          <a:xfrm>
            <a:off x="643089" y="809733"/>
            <a:ext cx="3654594" cy="1718989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77A915-78C6-D922-DAE0-BD5A7C0EF24D}"/>
              </a:ext>
            </a:extLst>
          </p:cNvPr>
          <p:cNvSpPr txBox="1"/>
          <p:nvPr/>
        </p:nvSpPr>
        <p:spPr>
          <a:xfrm>
            <a:off x="-1532791" y="794579"/>
            <a:ext cx="6181594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pt-BR" sz="54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20F0502020204030204" pitchFamily="82" charset="0"/>
              </a:rPr>
              <a:t>Reflexão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BB3A1A-01A0-30D4-1F3A-748DEFA92D96}"/>
              </a:ext>
            </a:extLst>
          </p:cNvPr>
          <p:cNvSpPr txBox="1"/>
          <p:nvPr/>
        </p:nvSpPr>
        <p:spPr>
          <a:xfrm>
            <a:off x="643089" y="1574615"/>
            <a:ext cx="44342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anose="020F0502020204030204" pitchFamily="82" charset="0"/>
              </a:rPr>
              <a:t>Nas ruínas do que planejamos, construímos quem nos tornamos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013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edifício, neve, ao ar livre, pedra&#10;&#10;O conteúdo gerado por IA pode estar incorreto.">
            <a:extLst>
              <a:ext uri="{FF2B5EF4-FFF2-40B4-BE49-F238E27FC236}">
                <a16:creationId xmlns:a16="http://schemas.microsoft.com/office/drawing/2014/main" id="{021A2AB6-B89D-8257-7478-77BE03F94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/>
          <a:stretch>
            <a:fillRect/>
          </a:stretch>
        </p:blipFill>
        <p:spPr>
          <a:xfrm>
            <a:off x="1" y="-2"/>
            <a:ext cx="12191999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720486" y="720484"/>
            <a:ext cx="6857999" cy="5417036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017DC4EB-D106-EE20-08D1-7677B0ED888D}"/>
              </a:ext>
            </a:extLst>
          </p:cNvPr>
          <p:cNvSpPr/>
          <p:nvPr/>
        </p:nvSpPr>
        <p:spPr>
          <a:xfrm>
            <a:off x="554909" y="847004"/>
            <a:ext cx="2998519" cy="145635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AF78A1-2E19-6453-1D51-2D7BF91B4BA0}"/>
              </a:ext>
            </a:extLst>
          </p:cNvPr>
          <p:cNvSpPr txBox="1"/>
          <p:nvPr/>
        </p:nvSpPr>
        <p:spPr>
          <a:xfrm>
            <a:off x="554909" y="847016"/>
            <a:ext cx="4307207" cy="36417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accent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4020404031007020602" pitchFamily="82" charset="0"/>
                <a:ea typeface="+mj-ea"/>
                <a:cs typeface="+mj-cs"/>
              </a:rPr>
              <a:t>Obrigado pela atenção!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09D5EC-D568-B64F-CAE2-BDBC4822B458}"/>
              </a:ext>
            </a:extLst>
          </p:cNvPr>
          <p:cNvSpPr/>
          <p:nvPr/>
        </p:nvSpPr>
        <p:spPr>
          <a:xfrm>
            <a:off x="8021257" y="5211562"/>
            <a:ext cx="3643022" cy="84099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387841-63AC-62FC-AD5B-4F662EFCE082}"/>
              </a:ext>
            </a:extLst>
          </p:cNvPr>
          <p:cNvSpPr txBox="1"/>
          <p:nvPr/>
        </p:nvSpPr>
        <p:spPr>
          <a:xfrm>
            <a:off x="7905507" y="5211561"/>
            <a:ext cx="3758771" cy="84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800" dirty="0">
                <a:solidFill>
                  <a:schemeClr val="accent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iller" panose="04020404031007020602" pitchFamily="82" charset="0"/>
                <a:ea typeface="+mj-ea"/>
                <a:cs typeface="+mj-cs"/>
              </a:rPr>
              <a:t>O nosso julgamento termina aqui. O seu está apenas começando.</a:t>
            </a:r>
          </a:p>
        </p:txBody>
      </p:sp>
    </p:spTree>
    <p:extLst>
      <p:ext uri="{BB962C8B-B14F-4D97-AF65-F5344CB8AC3E}">
        <p14:creationId xmlns:p14="http://schemas.microsoft.com/office/powerpoint/2010/main" val="2172816551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854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Amasis MT Pro Medium</vt:lpstr>
      <vt:lpstr>Arial</vt:lpstr>
      <vt:lpstr>Chiller</vt:lpstr>
      <vt:lpstr>Kristen ITC</vt:lpstr>
      <vt:lpstr>Univers Light</vt:lpstr>
      <vt:lpstr>TribuneVTI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Borges de Almeida</dc:creator>
  <cp:lastModifiedBy>Gustavo Borges de Almeida</cp:lastModifiedBy>
  <cp:revision>5</cp:revision>
  <dcterms:created xsi:type="dcterms:W3CDTF">2025-11-26T15:45:00Z</dcterms:created>
  <dcterms:modified xsi:type="dcterms:W3CDTF">2025-12-01T01:45:27Z</dcterms:modified>
</cp:coreProperties>
</file>